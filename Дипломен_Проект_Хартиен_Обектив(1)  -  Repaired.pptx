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281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724B-49DD-0FF9-1DB6-EA1BE63E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1277E-80E9-1EE2-D12D-25542DDBD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702F2-78F8-693B-7347-E672CEF28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BB91E-DA22-2D04-F3ED-0266EC5A9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60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2658-5C54-F16B-E2E6-9D6F4495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FAE09-C3F4-B77B-8E2F-9F362D518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C3505-32D8-C888-C0AA-BBDF7D7D1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D9F9E-305D-C761-318A-074D3C0D0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3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info-1601363@edu.mon.b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3063240"/>
            <a:ext cx="9445752" cy="22860"/>
          </a:xfrm>
          <a:prstGeom prst="rect">
            <a:avLst/>
          </a:prstGeom>
          <a:solidFill>
            <a:srgbClr val="E2D5B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3118104"/>
            <a:ext cx="9445752" cy="7315"/>
          </a:xfrm>
          <a:prstGeom prst="rect">
            <a:avLst/>
          </a:prstGeom>
          <a:solidFill>
            <a:srgbClr val="E2D5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ДИПЛОМЕН ПРОЕКТ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Разработка на уеб сайт за</a:t>
            </a:r>
            <a:endParaRPr lang="en-US" sz="3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Фото и копирни услуги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8A6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"ХАРТИЕН ОБЕКТИВ"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42976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560"/>
                </a:solidFill>
              </a:rPr>
              <a:t>Ученик: </a:t>
            </a:r>
            <a:r>
              <a:rPr lang="en-US" sz="1300" b="1" dirty="0">
                <a:solidFill>
                  <a:srgbClr val="1A1714"/>
                </a:solidFill>
              </a:rPr>
              <a:t>Никола Ганев Салчев</a:t>
            </a:r>
            <a:r>
              <a:rPr lang="en-US" sz="1300" dirty="0">
                <a:solidFill>
                  <a:srgbClr val="6B6560"/>
                </a:solidFill>
              </a:rPr>
              <a:t>          Консултант: </a:t>
            </a:r>
            <a:r>
              <a:rPr lang="en-US" sz="1300" b="1" dirty="0">
                <a:solidFill>
                  <a:srgbClr val="1A1714"/>
                </a:solidFill>
              </a:rPr>
              <a:t>Стоян Пършев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75488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60"/>
                </a:solidFill>
              </a:rPr>
              <a:t>Специалност: </a:t>
            </a:r>
            <a:r>
              <a:rPr lang="en-US" sz="1100" b="1" dirty="0">
                <a:solidFill>
                  <a:srgbClr val="1A1714"/>
                </a:solidFill>
              </a:rPr>
              <a:t>Системно програмиране (код 4810201)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СОПОТ,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A6420"/>
          </a:solidFill>
          <a:ln/>
        </p:spPr>
      </p:sp>
      <p:pic>
        <p:nvPicPr>
          <p:cNvPr id="2050" name="Picture 3" descr="emblema">
            <a:extLst>
              <a:ext uri="{FF2B5EF4-FFF2-40B4-BE49-F238E27FC236}">
                <a16:creationId xmlns:a16="http://schemas.microsoft.com/office/drawing/2014/main" id="{D0F8D49C-97E6-7514-D4C1-E8CE89423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261" y="342884"/>
            <a:ext cx="714929" cy="68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Право съединение 5">
            <a:extLst>
              <a:ext uri="{FF2B5EF4-FFF2-40B4-BE49-F238E27FC236}">
                <a16:creationId xmlns:a16="http://schemas.microsoft.com/office/drawing/2014/main" id="{0EC0ED5C-BF2C-1CC2-93F2-A77802323BC3}"/>
              </a:ext>
            </a:extLst>
          </p:cNvPr>
          <p:cNvCxnSpPr>
            <a:cxnSpLocks/>
          </p:cNvCxnSpPr>
          <p:nvPr/>
        </p:nvCxnSpPr>
        <p:spPr>
          <a:xfrm>
            <a:off x="3429000" y="1001859"/>
            <a:ext cx="8375073" cy="0"/>
          </a:xfrm>
          <a:prstGeom prst="line">
            <a:avLst/>
          </a:prstGeom>
          <a:noFill/>
          <a:ln w="19050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/>
        </p:spPr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D708A3CB-6A3F-B0E8-A84E-879A1B0D6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-296081"/>
            <a:ext cx="707851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4EE3BFFE-A163-1ED9-21E9-DF0F0F317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79445"/>
            <a:ext cx="57057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bg-B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 ОБРАЗОВАНИЕТО И НАУКАТА</a:t>
            </a:r>
            <a:endParaRPr kumimoji="0" lang="bg-BG" altLang="bg-B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bg-BG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ПРОФЕСИОНАЛНА ГИМНАЗИЯ “ГЕН. ВЛАДИМИР ЗАИМОВ” гр. СОПОТ</a:t>
            </a:r>
            <a:endParaRPr kumimoji="0" lang="bg-BG" altLang="bg-B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bg-BG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4330 гр. Сопот, ул. ”Иван Вазов” №1, тел. +359 882525512, e-mail: </a:t>
            </a:r>
            <a:r>
              <a:rPr kumimoji="0" lang="ru-RU" altLang="bg-BG" sz="1000" b="0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info-1601363@edu.mon.bg</a:t>
            </a:r>
            <a:endParaRPr kumimoji="0" lang="bg-BG" altLang="bg-BG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8E993A55-3AFD-98AD-5C56-4B668F383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618319"/>
            <a:ext cx="707851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 — ПРОУЧВАНЕ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Цели и задачи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76200" dist="25400" dir="16200000" algn="bl" rotWithShape="0">
              <a:srgbClr val="E8E2D9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6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Основни цели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4846320" cy="13716"/>
          </a:xfrm>
          <a:prstGeom prst="rect">
            <a:avLst/>
          </a:prstGeom>
          <a:solidFill>
            <a:srgbClr val="E2D5B8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57400"/>
            <a:ext cx="137160" cy="137160"/>
          </a:xfrm>
          <a:prstGeom prst="diamond">
            <a:avLst/>
          </a:prstGeom>
          <a:solidFill>
            <a:srgbClr val="8A642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Създаване на уеб сайт за фото и копирни услуги на "Хартиен Обектив"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137160" cy="137160"/>
          </a:xfrm>
          <a:prstGeom prst="diamond">
            <a:avLst/>
          </a:prstGeom>
          <a:solidFill>
            <a:srgbClr val="8A642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Удобен достъп до информация за услуги, параметри, срокове и цени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137160" cy="137160"/>
          </a:xfrm>
          <a:prstGeom prst="diamond">
            <a:avLst/>
          </a:prstGeom>
          <a:solidFill>
            <a:srgbClr val="8A642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Възможност за разглеждане на категории услуги и фото продукти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137160" cy="137160"/>
          </a:xfrm>
          <a:prstGeom prst="diamond">
            <a:avLst/>
          </a:prstGeom>
          <a:solidFill>
            <a:srgbClr val="8A642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на регистрация, вход и подаване на заявки с файлове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434840"/>
            <a:ext cx="137160" cy="137160"/>
          </a:xfrm>
          <a:prstGeom prst="diamond">
            <a:avLst/>
          </a:prstGeom>
          <a:solidFill>
            <a:srgbClr val="8A642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Публични секции — Начало, Услуги, Фото продукти, Цени, Контакти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5029200"/>
            <a:ext cx="137160" cy="137160"/>
          </a:xfrm>
          <a:prstGeom prst="diamond">
            <a:avLst/>
          </a:prstGeom>
          <a:solidFill>
            <a:srgbClr val="8A642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Административен панел за управление на съдържанието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5623560"/>
            <a:ext cx="137160" cy="137160"/>
          </a:xfrm>
          <a:prstGeom prst="diamond">
            <a:avLst/>
          </a:prstGeom>
          <a:solidFill>
            <a:srgbClr val="8A6420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5532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Адаптивен потребителски интерфейс за различни устройства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137160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76200" dist="25400" dir="16200000" algn="bl" rotWithShape="0">
              <a:srgbClr val="E8E2D9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6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Основни задачи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1874520"/>
            <a:ext cx="4846320" cy="13716"/>
          </a:xfrm>
          <a:prstGeom prst="rect">
            <a:avLst/>
          </a:prstGeom>
          <a:solidFill>
            <a:srgbClr val="E2D5B8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0" y="208483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64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9933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Проектиране на трислойно ASP.NET MVC приложение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263347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64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5420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Създаване на роли — администратор и клиент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75120" y="318211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64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0906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операции за услуги и фото продукти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0" y="373075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64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6393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 за подробна информация за всеки продукт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75120" y="427939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64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41879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за заявки с параметри и прикачване на файлове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75120" y="482803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64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47365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Преглед и обработка на постъпили заявки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75120" y="537667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64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52852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данни — потребители, услуги, продукти, заявки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75120" y="592531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64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58338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 и тестови данни за демонстрация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 — ПРОУЧВАНЕ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Предпоставки за създаването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Защо е създадено това приложение?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63500" dist="25400" dir="16200000" algn="bl" rotWithShape="0">
              <a:srgbClr val="E8E2D9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3566160" cy="4572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Нарастваща потребност от онлайн услуги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Потребителите търсят бърз достъп до информация за услуги, цени и формати онлайн.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63500" dist="25400" dir="16200000" algn="bl" rotWithShape="0">
              <a:srgbClr val="E8E2D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45920"/>
            <a:ext cx="3566160" cy="4572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Улеснение при подаване на заявки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Избор на услуга, параметри и прикачване на файл без лично посещение.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63500" dist="25400" dir="16200000" algn="bl" rotWithShape="0">
              <a:srgbClr val="E8E2D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645920"/>
            <a:ext cx="3566160" cy="4572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Подобряване на организацията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 панел за услуги, цени и проследяване на заявки.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63500" dist="25400" dir="16200000" algn="bl" rotWithShape="0">
              <a:srgbClr val="E8E2D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114800"/>
            <a:ext cx="3566160" cy="4572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43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Повишаване на конкурентоспособността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5800" y="4892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Модерен сайт създава по-професионален облик и разширява обхвата.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41148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63500" dist="25400" dir="16200000" algn="bl" rotWithShape="0">
              <a:srgbClr val="E8E2D9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4114800"/>
            <a:ext cx="3566160" cy="4572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343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Възможност за бъдещо разширяване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26280" y="4892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Проследяване на статус, онлайн плащане, известия, клиентски профили.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41148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63500" dist="25400" dir="16200000" algn="bl" rotWithShape="0">
              <a:srgbClr val="E8E2D9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8160" y="4114800"/>
            <a:ext cx="3566160" cy="4572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28" name="Text 26"/>
          <p:cNvSpPr/>
          <p:nvPr/>
        </p:nvSpPr>
        <p:spPr>
          <a:xfrm>
            <a:off x="8366760" y="4343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на съществуващи решения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366760" y="4892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PhotoPrint.bg, ФотоСинтезис и Office 1 — липса на балансирана система</a:t>
            </a: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6FCFC-FFD7-190C-6A20-F2369E42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F4DF1-C3CF-69EF-AAE5-8E6E7D48D9C2}"/>
              </a:ext>
            </a:extLst>
          </p:cNvPr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D31D09-7EFE-BD4C-C859-E86E2A9121E2}"/>
              </a:ext>
            </a:extLst>
          </p:cNvPr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 — ПРОЕКТИРАНЕ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795A7F-0C91-85A9-918D-3D24F905D56C}"/>
              </a:ext>
            </a:extLst>
          </p:cNvPr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bg-BG" sz="3000" b="1" dirty="0">
                <a:latin typeface="Georgia" panose="02040502050405020303" pitchFamily="18" charset="0"/>
              </a:rPr>
              <a:t>Функционалност</a:t>
            </a:r>
            <a:r>
              <a:rPr lang="bg-BG" sz="3200" b="1" dirty="0"/>
              <a:t> по роли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6F086A-EF7B-7780-505B-58AEB805D784}"/>
              </a:ext>
            </a:extLst>
          </p:cNvPr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Функционалност на различните роли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E59271A-8E17-0D5A-A0F8-7261CDB60C3D}"/>
              </a:ext>
            </a:extLst>
          </p:cNvPr>
          <p:cNvSpPr/>
          <p:nvPr/>
        </p:nvSpPr>
        <p:spPr>
          <a:xfrm>
            <a:off x="9784080" y="6263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A19F472-4966-D7FF-8E7B-27D747632AA8}"/>
              </a:ext>
            </a:extLst>
          </p:cNvPr>
          <p:cNvSpPr/>
          <p:nvPr/>
        </p:nvSpPr>
        <p:spPr>
          <a:xfrm>
            <a:off x="457200" y="1645920"/>
            <a:ext cx="3566160" cy="46177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63500" dist="25400" dir="16200000" algn="bl" rotWithShape="0">
              <a:srgbClr val="E8E2D9">
                <a:alpha val="25000"/>
              </a:srgbClr>
            </a:outerShdw>
          </a:effectLst>
        </p:spPr>
        <p:txBody>
          <a:bodyPr/>
          <a:lstStyle/>
          <a:p>
            <a:endParaRPr lang="bg-BG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27C1C9-8299-848D-FA09-3C67FB540EF9}"/>
              </a:ext>
            </a:extLst>
          </p:cNvPr>
          <p:cNvSpPr/>
          <p:nvPr/>
        </p:nvSpPr>
        <p:spPr>
          <a:xfrm>
            <a:off x="457200" y="1645920"/>
            <a:ext cx="3566160" cy="4572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4BA77F6-6693-A156-2FDC-C45118AC0A27}"/>
              </a:ext>
            </a:extLst>
          </p:cNvPr>
          <p:cNvSpPr/>
          <p:nvPr/>
        </p:nvSpPr>
        <p:spPr>
          <a:xfrm>
            <a:off x="685800" y="1874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400" b="1" dirty="0"/>
              <a:t>Гост</a:t>
            </a:r>
            <a:endParaRPr lang="en-US" sz="2400" b="1" dirty="0"/>
          </a:p>
          <a:p>
            <a:r>
              <a:rPr lang="ru-RU" sz="1400" dirty="0"/>
              <a:t>Нерегистриран</a:t>
            </a:r>
            <a:endParaRPr lang="ru-RU" sz="14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2BC082-896D-6E0C-8871-BA657E39E43F}"/>
              </a:ext>
            </a:extLst>
          </p:cNvPr>
          <p:cNvSpPr/>
          <p:nvPr/>
        </p:nvSpPr>
        <p:spPr>
          <a:xfrm>
            <a:off x="685800" y="2423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000" dirty="0"/>
              <a:t> 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Разглеждане на начална страница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Преглед на услуги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Преглед на фото продукти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Достъп до цени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Преглед на контакти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Подаване на заявки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Профил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2E8464B-1C5C-BA76-CDB8-797B59CCB58B}"/>
              </a:ext>
            </a:extLst>
          </p:cNvPr>
          <p:cNvSpPr/>
          <p:nvPr/>
        </p:nvSpPr>
        <p:spPr>
          <a:xfrm>
            <a:off x="4297680" y="1645920"/>
            <a:ext cx="3566160" cy="46177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63500" dist="25400" dir="16200000" algn="bl" rotWithShape="0">
              <a:srgbClr val="E8E2D9">
                <a:alpha val="25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155D8C-0420-26F4-FCAD-2376AE5EA409}"/>
              </a:ext>
            </a:extLst>
          </p:cNvPr>
          <p:cNvSpPr/>
          <p:nvPr/>
        </p:nvSpPr>
        <p:spPr>
          <a:xfrm>
            <a:off x="4297680" y="1645920"/>
            <a:ext cx="3566160" cy="4572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0D09141-BE56-57AD-6E6D-6ACB2DAB6357}"/>
              </a:ext>
            </a:extLst>
          </p:cNvPr>
          <p:cNvSpPr/>
          <p:nvPr/>
        </p:nvSpPr>
        <p:spPr>
          <a:xfrm>
            <a:off x="4526280" y="1874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400" b="1" dirty="0"/>
              <a:t>Клиент</a:t>
            </a:r>
            <a:endParaRPr lang="en-US" sz="2400" b="1" dirty="0"/>
          </a:p>
          <a:p>
            <a:r>
              <a:rPr lang="ru-RU" sz="1400" dirty="0"/>
              <a:t>Регистриран</a:t>
            </a:r>
            <a:endParaRPr lang="ru-RU" sz="1400" b="1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ED5CDF7-8CE4-977C-9E8E-1F86A5D3EC5E}"/>
              </a:ext>
            </a:extLst>
          </p:cNvPr>
          <p:cNvSpPr/>
          <p:nvPr/>
        </p:nvSpPr>
        <p:spPr>
          <a:xfrm>
            <a:off x="4526280" y="2423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000" dirty="0"/>
              <a:t> 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Всичко от Гост +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Регистрация и вход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Подаване на заявка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Прикачване на файлове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Проследяване на поръчка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Профил с лични данни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Управление на услуги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600B499-76E9-3562-A53C-8F0145D54C57}"/>
              </a:ext>
            </a:extLst>
          </p:cNvPr>
          <p:cNvSpPr/>
          <p:nvPr/>
        </p:nvSpPr>
        <p:spPr>
          <a:xfrm>
            <a:off x="8138160" y="1645920"/>
            <a:ext cx="3566160" cy="46177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63500" dist="25400" dir="16200000" algn="bl" rotWithShape="0">
              <a:srgbClr val="E8E2D9">
                <a:alpha val="25000"/>
              </a:srgbClr>
            </a:outerShdw>
          </a:effectLst>
        </p:spPr>
        <p:txBody>
          <a:bodyPr/>
          <a:lstStyle/>
          <a:p>
            <a:endParaRPr lang="bg-BG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FACA7F7-CB33-4815-814D-3C09AB54360B}"/>
              </a:ext>
            </a:extLst>
          </p:cNvPr>
          <p:cNvSpPr/>
          <p:nvPr/>
        </p:nvSpPr>
        <p:spPr>
          <a:xfrm>
            <a:off x="8138160" y="1645920"/>
            <a:ext cx="3566160" cy="4572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941DCE1-F974-81E1-7693-D166D70A0513}"/>
              </a:ext>
            </a:extLst>
          </p:cNvPr>
          <p:cNvSpPr/>
          <p:nvPr/>
        </p:nvSpPr>
        <p:spPr>
          <a:xfrm>
            <a:off x="8366760" y="1874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400" b="1" dirty="0"/>
              <a:t>Администратор</a:t>
            </a:r>
            <a:endParaRPr lang="en-US" sz="2400" b="1" dirty="0"/>
          </a:p>
          <a:p>
            <a:r>
              <a:rPr lang="ru-RU" sz="1400" dirty="0"/>
              <a:t>Пълен достъп </a:t>
            </a:r>
            <a:endParaRPr lang="ru-RU" sz="14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DF6844D-958B-9A10-712C-E5794DB88345}"/>
              </a:ext>
            </a:extLst>
          </p:cNvPr>
          <p:cNvSpPr/>
          <p:nvPr/>
        </p:nvSpPr>
        <p:spPr>
          <a:xfrm>
            <a:off x="8366760" y="2423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Blip>
                <a:blip r:embed="rId3"/>
              </a:buBlip>
            </a:pPr>
            <a:r>
              <a:rPr lang="ru-RU" sz="2000" dirty="0"/>
              <a:t>Пълен достъп 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Добавяне на услуги/продукти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Редактиране на услуги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Изтриване на услуги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Преглед на заявки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Промяна на статус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Управление на категории</a:t>
            </a:r>
          </a:p>
          <a:p>
            <a:pPr marL="342900" indent="-342900">
              <a:buBlip>
                <a:blip r:embed="rId3"/>
              </a:buBlip>
            </a:pPr>
            <a:r>
              <a:rPr lang="ru-RU" sz="2000" dirty="0"/>
              <a:t>Актуализиране на цени</a:t>
            </a:r>
          </a:p>
        </p:txBody>
      </p:sp>
    </p:spTree>
    <p:extLst>
      <p:ext uri="{BB962C8B-B14F-4D97-AF65-F5344CB8AC3E}">
        <p14:creationId xmlns:p14="http://schemas.microsoft.com/office/powerpoint/2010/main" val="2897105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 — ПРОЕКТИРАНЕ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диаграма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Функционалност на различните роли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84080" y="6263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540CA7-C980-BAA7-5796-ED4BD7AF7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891" y="1439602"/>
            <a:ext cx="8913092" cy="51440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 — ПРОЕКТИРАНЕ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Потребителски интерфейс — прототип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Начална страница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DC2DBE-A889-783C-CFFD-2A79647F81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199" y="1325879"/>
            <a:ext cx="6964219" cy="522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 — ПРОЕКТИРАНЕ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Потребителски интерфейс — прототип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с продукти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C81351-B07B-CEC7-1DD0-88B4FC8681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204" y="1309716"/>
            <a:ext cx="6283036" cy="5443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 — ПРОЕКТИРАНЕ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Потребителски интерфейс — прототип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/ Вход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FA0677-E6F7-02FF-7457-8476D691D8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290" y="1331191"/>
            <a:ext cx="7315199" cy="52524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 — ПРОЕКТИРАНЕ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Потребителски интерфейс — прототип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Потребителски профил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9CD9AC-7F32-CA13-0B7C-0A0F6154BA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817" y="1325880"/>
            <a:ext cx="6918037" cy="5379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 — ПРОЕКТИРАНЕ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Потребителски интерфейс — прототип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Завършване на поръчка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C091CD-E01F-7C2D-C4C9-D4653DF8F6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963" y="1325880"/>
            <a:ext cx="6594763" cy="53520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 — ПРОЕКТИРАНЕ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Технологии за реализиране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Избран софтуерен стек</a:t>
            </a:r>
            <a:endParaRPr lang="en-US" sz="13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2DCDE4C-F4BB-9266-AC1B-C040F71CA6A8}"/>
              </a:ext>
            </a:extLst>
          </p:cNvPr>
          <p:cNvSpPr/>
          <p:nvPr/>
        </p:nvSpPr>
        <p:spPr>
          <a:xfrm>
            <a:off x="457200" y="1554480"/>
            <a:ext cx="26974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3D342A"/>
            </a:solidFill>
            <a:prstDash val="solid"/>
          </a:ln>
        </p:spPr>
        <p:txBody>
          <a:bodyPr/>
          <a:lstStyle/>
          <a:p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055BB66-FAE1-8027-F260-E06E965058F5}"/>
              </a:ext>
            </a:extLst>
          </p:cNvPr>
          <p:cNvSpPr/>
          <p:nvPr/>
        </p:nvSpPr>
        <p:spPr>
          <a:xfrm>
            <a:off x="64008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8D8053D-F525-09D8-E480-571CD4DD17A4}"/>
              </a:ext>
            </a:extLst>
          </p:cNvPr>
          <p:cNvSpPr/>
          <p:nvPr/>
        </p:nvSpPr>
        <p:spPr>
          <a:xfrm>
            <a:off x="914400" y="2377440"/>
            <a:ext cx="1783080" cy="13716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6B736C9-4A41-8E41-8567-0C74B95FE4E7}"/>
              </a:ext>
            </a:extLst>
          </p:cNvPr>
          <p:cNvSpPr/>
          <p:nvPr/>
        </p:nvSpPr>
        <p:spPr>
          <a:xfrm>
            <a:off x="640080" y="25603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Маршрутизация, контролери, изгледи, Identity</a:t>
            </a:r>
            <a:endParaRPr lang="en-US" sz="1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AF64051-894A-D0D0-F8C6-8C5BC442591B}"/>
              </a:ext>
            </a:extLst>
          </p:cNvPr>
          <p:cNvSpPr/>
          <p:nvPr/>
        </p:nvSpPr>
        <p:spPr>
          <a:xfrm>
            <a:off x="3337560" y="1554480"/>
            <a:ext cx="26974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3D342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B9A4D19-C696-47E8-02B8-0A1C73338430}"/>
              </a:ext>
            </a:extLst>
          </p:cNvPr>
          <p:cNvSpPr/>
          <p:nvPr/>
        </p:nvSpPr>
        <p:spPr>
          <a:xfrm>
            <a:off x="352044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A9C1B87-2E58-2038-6628-59DE7EE2DC3E}"/>
              </a:ext>
            </a:extLst>
          </p:cNvPr>
          <p:cNvSpPr/>
          <p:nvPr/>
        </p:nvSpPr>
        <p:spPr>
          <a:xfrm>
            <a:off x="3794760" y="2377440"/>
            <a:ext cx="1783080" cy="1371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A170DF0-3B7D-BED1-9035-52DFB561E455}"/>
              </a:ext>
            </a:extLst>
          </p:cNvPr>
          <p:cNvSpPr/>
          <p:nvPr/>
        </p:nvSpPr>
        <p:spPr>
          <a:xfrm>
            <a:off x="3520440" y="25603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Релационна СУБД за данни</a:t>
            </a:r>
            <a:endParaRPr lang="en-US" sz="10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BDAA79D-B422-8A78-977D-EBDCEAC17CE7}"/>
              </a:ext>
            </a:extLst>
          </p:cNvPr>
          <p:cNvSpPr/>
          <p:nvPr/>
        </p:nvSpPr>
        <p:spPr>
          <a:xfrm>
            <a:off x="6217920" y="1554480"/>
            <a:ext cx="26974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3D342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EF5B104-00BE-10BF-8B32-098CB2831890}"/>
              </a:ext>
            </a:extLst>
          </p:cNvPr>
          <p:cNvSpPr/>
          <p:nvPr/>
        </p:nvSpPr>
        <p:spPr>
          <a:xfrm>
            <a:off x="640080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C#</a:t>
            </a:r>
            <a:endParaRPr lang="en-US" sz="14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BD811C3F-D19D-CAC0-6DD6-75EF45E87626}"/>
              </a:ext>
            </a:extLst>
          </p:cNvPr>
          <p:cNvSpPr/>
          <p:nvPr/>
        </p:nvSpPr>
        <p:spPr>
          <a:xfrm>
            <a:off x="6675120" y="2377440"/>
            <a:ext cx="1783080" cy="1371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BD51ED6-184C-F132-AF78-F183B429DEC4}"/>
              </a:ext>
            </a:extLst>
          </p:cNvPr>
          <p:cNvSpPr/>
          <p:nvPr/>
        </p:nvSpPr>
        <p:spPr>
          <a:xfrm>
            <a:off x="6400800" y="25603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Модели, логика, валидация, EF Core</a:t>
            </a:r>
            <a:endParaRPr lang="en-US" sz="10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DC93960-7080-B9BA-A7F9-669822F48384}"/>
              </a:ext>
            </a:extLst>
          </p:cNvPr>
          <p:cNvSpPr/>
          <p:nvPr/>
        </p:nvSpPr>
        <p:spPr>
          <a:xfrm>
            <a:off x="9098280" y="1554480"/>
            <a:ext cx="26974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3D342A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C84900A-C9A7-7127-A0D1-38E3E75DFBDA}"/>
              </a:ext>
            </a:extLst>
          </p:cNvPr>
          <p:cNvSpPr/>
          <p:nvPr/>
        </p:nvSpPr>
        <p:spPr>
          <a:xfrm>
            <a:off x="928116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4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6897DB9-9A01-67E7-37CE-A0130AE17A51}"/>
              </a:ext>
            </a:extLst>
          </p:cNvPr>
          <p:cNvSpPr/>
          <p:nvPr/>
        </p:nvSpPr>
        <p:spPr>
          <a:xfrm>
            <a:off x="9555480" y="2377440"/>
            <a:ext cx="1783080" cy="1371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20EEEA0-1655-E046-3269-DF8ECBBDDE22}"/>
              </a:ext>
            </a:extLst>
          </p:cNvPr>
          <p:cNvSpPr/>
          <p:nvPr/>
        </p:nvSpPr>
        <p:spPr>
          <a:xfrm>
            <a:off x="9281160" y="25603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Семантична структура и форми</a:t>
            </a:r>
            <a:endParaRPr lang="en-US" sz="10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5BAC37AD-99E4-3D28-3787-2C4858652D8A}"/>
              </a:ext>
            </a:extLst>
          </p:cNvPr>
          <p:cNvSpPr/>
          <p:nvPr/>
        </p:nvSpPr>
        <p:spPr>
          <a:xfrm>
            <a:off x="457200" y="4114800"/>
            <a:ext cx="26974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3D342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97D714C-FB1D-5013-4952-377BB6D897CC}"/>
              </a:ext>
            </a:extLst>
          </p:cNvPr>
          <p:cNvSpPr/>
          <p:nvPr/>
        </p:nvSpPr>
        <p:spPr>
          <a:xfrm>
            <a:off x="640080" y="4389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40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00C6B2E-3A51-A272-38AA-7D48658F4D27}"/>
              </a:ext>
            </a:extLst>
          </p:cNvPr>
          <p:cNvSpPr/>
          <p:nvPr/>
        </p:nvSpPr>
        <p:spPr>
          <a:xfrm>
            <a:off x="914400" y="4937760"/>
            <a:ext cx="1783080" cy="13716"/>
          </a:xfrm>
          <a:prstGeom prst="rect">
            <a:avLst/>
          </a:prstGeom>
          <a:solidFill>
            <a:srgbClr val="8A6420"/>
          </a:solidFill>
          <a:ln>
            <a:noFill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B853055-1E11-4CC1-0954-88E21028C90C}"/>
              </a:ext>
            </a:extLst>
          </p:cNvPr>
          <p:cNvSpPr/>
          <p:nvPr/>
        </p:nvSpPr>
        <p:spPr>
          <a:xfrm>
            <a:off x="640080" y="5120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Адаптивен дизайн и стилизация</a:t>
            </a:r>
            <a:endParaRPr lang="en-US" sz="10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B692712C-5D92-EF15-6BE1-27DCD67CF1E1}"/>
              </a:ext>
            </a:extLst>
          </p:cNvPr>
          <p:cNvSpPr/>
          <p:nvPr/>
        </p:nvSpPr>
        <p:spPr>
          <a:xfrm>
            <a:off x="3337560" y="4114800"/>
            <a:ext cx="26974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3D342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0310851-0E8F-E9E9-5F4D-3689AC79CC87}"/>
              </a:ext>
            </a:extLst>
          </p:cNvPr>
          <p:cNvSpPr/>
          <p:nvPr/>
        </p:nvSpPr>
        <p:spPr>
          <a:xfrm>
            <a:off x="3520440" y="4389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5AB52934-06A2-717A-FE51-7202507E55B9}"/>
              </a:ext>
            </a:extLst>
          </p:cNvPr>
          <p:cNvSpPr/>
          <p:nvPr/>
        </p:nvSpPr>
        <p:spPr>
          <a:xfrm>
            <a:off x="3794760" y="4937760"/>
            <a:ext cx="1783080" cy="1371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E977D220-E829-2986-175A-D9BC6CDE0831}"/>
              </a:ext>
            </a:extLst>
          </p:cNvPr>
          <p:cNvSpPr/>
          <p:nvPr/>
        </p:nvSpPr>
        <p:spPr>
          <a:xfrm>
            <a:off x="3520440" y="5120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Интерактивност и валидация</a:t>
            </a:r>
            <a:endParaRPr lang="en-US" sz="10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CE11AECE-11CA-F18B-6FFD-11F07C79DFBA}"/>
              </a:ext>
            </a:extLst>
          </p:cNvPr>
          <p:cNvSpPr/>
          <p:nvPr/>
        </p:nvSpPr>
        <p:spPr>
          <a:xfrm>
            <a:off x="6217920" y="4114800"/>
            <a:ext cx="26974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3D342A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83BE7548-6F4B-E20E-CA60-01CD746781EC}"/>
              </a:ext>
            </a:extLst>
          </p:cNvPr>
          <p:cNvSpPr/>
          <p:nvPr/>
        </p:nvSpPr>
        <p:spPr>
          <a:xfrm>
            <a:off x="6400800" y="4389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Razor Syntax</a:t>
            </a:r>
            <a:endParaRPr lang="en-US" sz="1400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1ADCE0A9-C0BF-786F-80FA-2E4B4046FF9D}"/>
              </a:ext>
            </a:extLst>
          </p:cNvPr>
          <p:cNvSpPr/>
          <p:nvPr/>
        </p:nvSpPr>
        <p:spPr>
          <a:xfrm>
            <a:off x="6675120" y="4937760"/>
            <a:ext cx="1783080" cy="1371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65293D3A-A699-02CF-0F18-4265847E8E86}"/>
              </a:ext>
            </a:extLst>
          </p:cNvPr>
          <p:cNvSpPr/>
          <p:nvPr/>
        </p:nvSpPr>
        <p:spPr>
          <a:xfrm>
            <a:off x="6400800" y="5120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Tag Helpers, HTML Helpers</a:t>
            </a:r>
            <a:endParaRPr lang="en-US" sz="10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C8419769-F48A-EE7F-B3F4-0E5A77E05539}"/>
              </a:ext>
            </a:extLst>
          </p:cNvPr>
          <p:cNvSpPr/>
          <p:nvPr/>
        </p:nvSpPr>
        <p:spPr>
          <a:xfrm>
            <a:off x="9098280" y="4114800"/>
            <a:ext cx="26974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3D342A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88B6CE6D-F604-A86B-AB51-BEDC26EEEE36}"/>
              </a:ext>
            </a:extLst>
          </p:cNvPr>
          <p:cNvSpPr/>
          <p:nvPr/>
        </p:nvSpPr>
        <p:spPr>
          <a:xfrm>
            <a:off x="9281160" y="4389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Visual Studio + SSMS</a:t>
            </a:r>
            <a:endParaRPr lang="en-US" sz="14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E720EBA5-9C6A-E456-19BD-62AE7C3183E4}"/>
              </a:ext>
            </a:extLst>
          </p:cNvPr>
          <p:cNvSpPr/>
          <p:nvPr/>
        </p:nvSpPr>
        <p:spPr>
          <a:xfrm>
            <a:off x="9555480" y="4937760"/>
            <a:ext cx="1783080" cy="1371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C4A271A0-D369-CD5C-3F05-0D3AB7D013AD}"/>
              </a:ext>
            </a:extLst>
          </p:cNvPr>
          <p:cNvSpPr/>
          <p:nvPr/>
        </p:nvSpPr>
        <p:spPr>
          <a:xfrm>
            <a:off x="9281160" y="5120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Среда за разработка и БД</a:t>
            </a:r>
            <a:endParaRPr lang="en-US" sz="1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5FE49C-0760-6B2D-8B30-3414D2E813E6}"/>
              </a:ext>
            </a:extLst>
          </p:cNvPr>
          <p:cNvSpPr/>
          <p:nvPr/>
        </p:nvSpPr>
        <p:spPr>
          <a:xfrm>
            <a:off x="457662" y="1554480"/>
            <a:ext cx="2697480" cy="91440"/>
          </a:xfrm>
          <a:prstGeom prst="rect">
            <a:avLst/>
          </a:prstGeom>
          <a:solidFill>
            <a:srgbClr val="8A6420"/>
          </a:solidFill>
          <a:ln/>
        </p:spPr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7ECBD5-11C9-0D5E-3BD4-33AED6648B83}"/>
              </a:ext>
            </a:extLst>
          </p:cNvPr>
          <p:cNvSpPr/>
          <p:nvPr/>
        </p:nvSpPr>
        <p:spPr>
          <a:xfrm>
            <a:off x="3328600" y="1554480"/>
            <a:ext cx="2697480" cy="91440"/>
          </a:xfrm>
          <a:prstGeom prst="rect">
            <a:avLst/>
          </a:prstGeom>
          <a:solidFill>
            <a:srgbClr val="8A6420"/>
          </a:solidFill>
          <a:ln/>
        </p:spPr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79BE07-74B9-E017-8BF4-4796CC66AC37}"/>
              </a:ext>
            </a:extLst>
          </p:cNvPr>
          <p:cNvSpPr/>
          <p:nvPr/>
        </p:nvSpPr>
        <p:spPr>
          <a:xfrm>
            <a:off x="6213440" y="1533837"/>
            <a:ext cx="2697480" cy="91440"/>
          </a:xfrm>
          <a:prstGeom prst="rect">
            <a:avLst/>
          </a:prstGeom>
          <a:solidFill>
            <a:srgbClr val="8A6420"/>
          </a:solidFill>
          <a:ln/>
        </p:spPr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33E189-4703-AA6B-DC9E-49DDC0A46507}"/>
              </a:ext>
            </a:extLst>
          </p:cNvPr>
          <p:cNvSpPr/>
          <p:nvPr/>
        </p:nvSpPr>
        <p:spPr>
          <a:xfrm>
            <a:off x="9098280" y="1533976"/>
            <a:ext cx="2697480" cy="91440"/>
          </a:xfrm>
          <a:prstGeom prst="rect">
            <a:avLst/>
          </a:prstGeom>
          <a:solidFill>
            <a:srgbClr val="8A6420"/>
          </a:solidFill>
          <a:ln/>
        </p:spPr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DBBE86-5C35-067A-3CEC-993DEC889E59}"/>
              </a:ext>
            </a:extLst>
          </p:cNvPr>
          <p:cNvSpPr/>
          <p:nvPr/>
        </p:nvSpPr>
        <p:spPr>
          <a:xfrm>
            <a:off x="459972" y="4103255"/>
            <a:ext cx="2697480" cy="91440"/>
          </a:xfrm>
          <a:prstGeom prst="rect">
            <a:avLst/>
          </a:prstGeom>
          <a:solidFill>
            <a:srgbClr val="8A6420"/>
          </a:solidFill>
          <a:ln/>
        </p:spPr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16B7E0-D5C3-EC2A-E642-097479ACD50C}"/>
              </a:ext>
            </a:extLst>
          </p:cNvPr>
          <p:cNvSpPr/>
          <p:nvPr/>
        </p:nvSpPr>
        <p:spPr>
          <a:xfrm>
            <a:off x="3328600" y="4103255"/>
            <a:ext cx="2697480" cy="91440"/>
          </a:xfrm>
          <a:prstGeom prst="rect">
            <a:avLst/>
          </a:prstGeom>
          <a:solidFill>
            <a:srgbClr val="8A6420"/>
          </a:solidFill>
          <a:ln/>
        </p:spPr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5AE2F18-0727-54C6-F702-B7059D4C6D7F}"/>
              </a:ext>
            </a:extLst>
          </p:cNvPr>
          <p:cNvSpPr/>
          <p:nvPr/>
        </p:nvSpPr>
        <p:spPr>
          <a:xfrm>
            <a:off x="6222077" y="4103255"/>
            <a:ext cx="2697480" cy="91440"/>
          </a:xfrm>
          <a:prstGeom prst="rect">
            <a:avLst/>
          </a:prstGeom>
          <a:solidFill>
            <a:srgbClr val="8A6420"/>
          </a:solidFill>
          <a:ln/>
        </p:spPr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7FE33B-7328-9540-6081-D53D9735A64B}"/>
              </a:ext>
            </a:extLst>
          </p:cNvPr>
          <p:cNvSpPr/>
          <p:nvPr/>
        </p:nvSpPr>
        <p:spPr>
          <a:xfrm>
            <a:off x="9102437" y="4103255"/>
            <a:ext cx="2697480" cy="91440"/>
          </a:xfrm>
          <a:prstGeom prst="rect">
            <a:avLst/>
          </a:prstGeom>
          <a:solidFill>
            <a:srgbClr val="8A6420"/>
          </a:solidFill>
          <a:ln/>
        </p:spPr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III — РЕАЛИЗАЦИЯ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на базата данни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диаграма — 4 таблици, връзки между обектите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0" y="1645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206240" y="6062472"/>
            <a:ext cx="2011680" cy="0"/>
          </a:xfrm>
          <a:prstGeom prst="line">
            <a:avLst/>
          </a:prstGeom>
          <a:noFill/>
          <a:ln w="3175">
            <a:solidFill>
              <a:srgbClr val="D9D2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51960" y="6080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PriceTotal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7200" y="603504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BF6EC"/>
          </a:solidFill>
          <a:ln w="6350">
            <a:solidFill>
              <a:srgbClr val="E2D5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" y="6053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таблици: Products, Categories, Services, Orders  |  Връзки: Category↔Product(1:N), Product↔Order(1:N), Service↔Order(1:N)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2CF3B0-CC1F-17D5-D1F9-0F2319A27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478" y="1426463"/>
            <a:ext cx="7792721" cy="44650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III — РЕАЛИЗАЦИЯ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на таблиците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Полета и типове данни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F99A518-FD45-97AB-73A0-420DBB8DE429}"/>
              </a:ext>
            </a:extLst>
          </p:cNvPr>
          <p:cNvSpPr/>
          <p:nvPr/>
        </p:nvSpPr>
        <p:spPr>
          <a:xfrm>
            <a:off x="365760" y="1554480"/>
            <a:ext cx="5577840" cy="4846320"/>
          </a:xfrm>
          <a:prstGeom prst="roundRect">
            <a:avLst>
              <a:gd name="adj" fmla="val 1132"/>
            </a:avLst>
          </a:prstGeom>
          <a:solidFill>
            <a:srgbClr val="F5F3F0"/>
          </a:solidFill>
          <a:ln w="9525">
            <a:solidFill>
              <a:srgbClr val="E8E2D9"/>
            </a:solidFill>
            <a:prstDash val="solid"/>
          </a:ln>
        </p:spPr>
        <p:txBody>
          <a:bodyPr/>
          <a:lstStyle/>
          <a:p>
            <a:r>
              <a:rPr lang="en-US" dirty="0"/>
              <a:t>public class Product</a:t>
            </a:r>
            <a:endParaRPr lang="bg-BG" dirty="0"/>
          </a:p>
          <a:p>
            <a:r>
              <a:rPr lang="en-US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decimal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PriceTotal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Category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Categories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17CD86-066A-F4B6-42FB-BE4471758D45}"/>
              </a:ext>
            </a:extLst>
          </p:cNvPr>
          <p:cNvSpPr/>
          <p:nvPr/>
        </p:nvSpPr>
        <p:spPr>
          <a:xfrm>
            <a:off x="365760" y="1554480"/>
            <a:ext cx="5577840" cy="32004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B87291-0E4F-D767-EF62-B08DC2DE487E}"/>
              </a:ext>
            </a:extLst>
          </p:cNvPr>
          <p:cNvSpPr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bg-BG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.cs</a:t>
            </a:r>
            <a:endParaRPr lang="en-US" sz="11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5AB57C-6F49-D5A8-520D-A98793DEBA6C}"/>
              </a:ext>
            </a:extLst>
          </p:cNvPr>
          <p:cNvSpPr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endParaRPr lang="en-US" sz="8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B62647B-640F-9156-0343-3901763F38AD}"/>
              </a:ext>
            </a:extLst>
          </p:cNvPr>
          <p:cNvSpPr/>
          <p:nvPr/>
        </p:nvSpPr>
        <p:spPr>
          <a:xfrm>
            <a:off x="6065520" y="1554480"/>
            <a:ext cx="5577840" cy="4846320"/>
          </a:xfrm>
          <a:prstGeom prst="roundRect">
            <a:avLst>
              <a:gd name="adj" fmla="val 1132"/>
            </a:avLst>
          </a:prstGeom>
          <a:solidFill>
            <a:srgbClr val="F5F3F0"/>
          </a:solidFill>
          <a:ln w="9525">
            <a:solidFill>
              <a:srgbClr val="E8E2D9"/>
            </a:solidFill>
            <a:prstDash val="solid"/>
          </a:ln>
        </p:spPr>
        <p:txBody>
          <a:bodyPr/>
          <a:lstStyle/>
          <a:p>
            <a:r>
              <a:rPr lang="en-US" dirty="0"/>
              <a:t>public class Product</a:t>
            </a:r>
            <a:endParaRPr lang="bg-BG" dirty="0"/>
          </a:p>
          <a:p>
            <a:r>
              <a:rPr lang="en-US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Category</a:t>
            </a:r>
            <a:endParaRPr lang="bg-BG" sz="1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828CB31D-9050-A528-5F6B-FD66380FA294}"/>
              </a:ext>
            </a:extLst>
          </p:cNvPr>
          <p:cNvSpPr/>
          <p:nvPr/>
        </p:nvSpPr>
        <p:spPr>
          <a:xfrm>
            <a:off x="6065520" y="1554480"/>
            <a:ext cx="5577840" cy="32004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971A046-DAD4-76E7-A993-16B2617CD325}"/>
              </a:ext>
            </a:extLst>
          </p:cNvPr>
          <p:cNvSpPr/>
          <p:nvPr/>
        </p:nvSpPr>
        <p:spPr>
          <a:xfrm>
            <a:off x="624840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Category.cs</a:t>
            </a:r>
            <a:endParaRPr lang="en-US" sz="1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F7A90FC1-D7D4-7CFA-2CFB-4C60D6F697B1}"/>
              </a:ext>
            </a:extLst>
          </p:cNvPr>
          <p:cNvSpPr/>
          <p:nvPr/>
        </p:nvSpPr>
        <p:spPr>
          <a:xfrm>
            <a:off x="6339840" y="201168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15F90-5A41-8EC6-C8A2-06D36BD9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984B77-D95E-C8BE-0A44-8B3BAECAEB41}"/>
              </a:ext>
            </a:extLst>
          </p:cNvPr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C024F6-C14E-3761-9B1D-7762D9B6E303}"/>
              </a:ext>
            </a:extLst>
          </p:cNvPr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III — РЕАЛИЗАЦИЯ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908C05-F875-1927-3C64-0C103E38FE26}"/>
              </a:ext>
            </a:extLst>
          </p:cNvPr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на таблиците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C6793E-641F-797F-9858-58FEDDA4BE25}"/>
              </a:ext>
            </a:extLst>
          </p:cNvPr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Полета и типове данни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F12140D-FEF5-A398-6839-513BCC4B7375}"/>
              </a:ext>
            </a:extLst>
          </p:cNvPr>
          <p:cNvSpPr/>
          <p:nvPr/>
        </p:nvSpPr>
        <p:spPr>
          <a:xfrm>
            <a:off x="365760" y="1554480"/>
            <a:ext cx="5577840" cy="4846320"/>
          </a:xfrm>
          <a:prstGeom prst="roundRect">
            <a:avLst>
              <a:gd name="adj" fmla="val 1132"/>
            </a:avLst>
          </a:prstGeom>
          <a:solidFill>
            <a:srgbClr val="F5F3F0"/>
          </a:solidFill>
          <a:ln w="9525">
            <a:solidFill>
              <a:srgbClr val="E8E2D9"/>
            </a:solidFill>
            <a:prstDash val="solid"/>
          </a:ln>
        </p:spPr>
        <p:txBody>
          <a:bodyPr/>
          <a:lstStyle/>
          <a:p>
            <a:r>
              <a:rPr lang="en-US" dirty="0"/>
              <a:t>public class Product</a:t>
            </a:r>
            <a:endParaRPr lang="bg-BG" dirty="0"/>
          </a:p>
          <a:p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CategoryId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decimal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D3433FB-7F91-5E2E-9C1C-F485170BC255}"/>
              </a:ext>
            </a:extLst>
          </p:cNvPr>
          <p:cNvSpPr/>
          <p:nvPr/>
        </p:nvSpPr>
        <p:spPr>
          <a:xfrm>
            <a:off x="365760" y="1554480"/>
            <a:ext cx="5577840" cy="320040"/>
          </a:xfrm>
          <a:prstGeom prst="rect">
            <a:avLst/>
          </a:prstGeom>
          <a:solidFill>
            <a:srgbClr val="8A6420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CDD4A2F-23BB-21EA-DEA2-B313271C1FE2}"/>
              </a:ext>
            </a:extLst>
          </p:cNvPr>
          <p:cNvSpPr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bg-BG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.cs</a:t>
            </a:r>
            <a:endParaRPr lang="en-US" sz="1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0BF5108-9ACE-5720-1012-C988A94730E6}"/>
              </a:ext>
            </a:extLst>
          </p:cNvPr>
          <p:cNvSpPr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endParaRPr lang="en-US" sz="8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D7A1127-4399-641C-13BA-5E836573FB21}"/>
              </a:ext>
            </a:extLst>
          </p:cNvPr>
          <p:cNvSpPr/>
          <p:nvPr/>
        </p:nvSpPr>
        <p:spPr>
          <a:xfrm>
            <a:off x="6065520" y="1554480"/>
            <a:ext cx="5577840" cy="4846320"/>
          </a:xfrm>
          <a:prstGeom prst="roundRect">
            <a:avLst>
              <a:gd name="adj" fmla="val 1132"/>
            </a:avLst>
          </a:prstGeom>
          <a:solidFill>
            <a:srgbClr val="F5F3F0"/>
          </a:solidFill>
          <a:ln w="9525">
            <a:solidFill>
              <a:srgbClr val="E8E2D9"/>
            </a:solidFill>
            <a:prstDash val="solid"/>
          </a:ln>
        </p:spPr>
        <p:txBody>
          <a:bodyPr/>
          <a:lstStyle/>
          <a:p>
            <a:r>
              <a:rPr lang="en-US" dirty="0"/>
              <a:t>public class Product</a:t>
            </a:r>
            <a:endParaRPr lang="bg-BG" dirty="0"/>
          </a:p>
          <a:p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Client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Prodoct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Prodocts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Staus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decimal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PriceTotal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 </a:t>
            </a: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bg-BG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C293E2A-299B-6A7E-6B3C-6486F5AAD70C}"/>
              </a:ext>
            </a:extLst>
          </p:cNvPr>
          <p:cNvSpPr/>
          <p:nvPr/>
        </p:nvSpPr>
        <p:spPr>
          <a:xfrm>
            <a:off x="6065520" y="1554480"/>
            <a:ext cx="5577840" cy="32004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8C6FF19-5D17-AFAC-7B40-31C83E842A06}"/>
              </a:ext>
            </a:extLst>
          </p:cNvPr>
          <p:cNvSpPr/>
          <p:nvPr/>
        </p:nvSpPr>
        <p:spPr>
          <a:xfrm>
            <a:off x="624840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bg-BG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.cs</a:t>
            </a:r>
            <a:endParaRPr lang="en-US" sz="1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39907B1-1ED7-3B8F-9705-F7B991E00E71}"/>
              </a:ext>
            </a:extLst>
          </p:cNvPr>
          <p:cNvSpPr/>
          <p:nvPr/>
        </p:nvSpPr>
        <p:spPr>
          <a:xfrm>
            <a:off x="6339840" y="201168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86869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III — РЕАЛИЗАЦИЯ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на MVC приложението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Контролери и техните Action-и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EEFAF1"/>
          </a:solidFill>
          <a:ln w="19050">
            <a:solidFill>
              <a:srgbClr val="2D7D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Данни и бизнес логика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Category,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Service, Order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560"/>
                </a:solidFill>
              </a:rPr>
              <a:t>⟷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EDF5FC"/>
          </a:solidFill>
          <a:ln w="19050">
            <a:solidFill>
              <a:srgbClr val="2A64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6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148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 изгледи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Helpers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Helpers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560"/>
                </a:solidFill>
              </a:rPr>
              <a:t>⟷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21040" y="15544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BF6EC"/>
          </a:solidFill>
          <a:ln w="19050">
            <a:solidFill>
              <a:srgbClr val="8A64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6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2148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на заявки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Маршрутизация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Връзка Model↔View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50800" dist="12700" dir="16200000" algn="bl" rotWithShape="0">
              <a:srgbClr val="E8E2D9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HomeController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Index()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691640" y="397764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About()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743200" y="397764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Contact()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40080" y="4325112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251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Privacy()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389120" y="3474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50800" dist="12700" dir="16200000" algn="bl" rotWithShape="0">
              <a:srgbClr val="E8E2D9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ProductController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97764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Index()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623560" y="397764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32" name="Text 30"/>
          <p:cNvSpPr/>
          <p:nvPr/>
        </p:nvSpPr>
        <p:spPr>
          <a:xfrm>
            <a:off x="562356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Details()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675120" y="397764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Create()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72000" y="4325112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43251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Edit()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623560" y="4325112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38" name="Text 36"/>
          <p:cNvSpPr/>
          <p:nvPr/>
        </p:nvSpPr>
        <p:spPr>
          <a:xfrm>
            <a:off x="5623560" y="43251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321040" y="3474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50800" dist="12700" dir="16200000" algn="bl" rotWithShape="0">
              <a:srgbClr val="E8E2D9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50392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OrderController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03920" y="397764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Index()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555480" y="397764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44" name="Text 42"/>
          <p:cNvSpPr/>
          <p:nvPr/>
        </p:nvSpPr>
        <p:spPr>
          <a:xfrm>
            <a:off x="955548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Create()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607040" y="397764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46" name="Text 44"/>
          <p:cNvSpPr/>
          <p:nvPr/>
        </p:nvSpPr>
        <p:spPr>
          <a:xfrm>
            <a:off x="10607040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Details()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503920" y="4325112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3251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EditStatus()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7200" y="512064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50800" dist="12700" dir="16200000" algn="bl" rotWithShape="0">
              <a:srgbClr val="E8E2D9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5212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ServiceController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" y="562356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56235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Index()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691640" y="562356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54" name="Text 52"/>
          <p:cNvSpPr/>
          <p:nvPr/>
        </p:nvSpPr>
        <p:spPr>
          <a:xfrm>
            <a:off x="1691640" y="56235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Details()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743200" y="562356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0" y="56235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Create()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40080" y="5971032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59710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Edit()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691640" y="5971032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60" name="Text 58"/>
          <p:cNvSpPr/>
          <p:nvPr/>
        </p:nvSpPr>
        <p:spPr>
          <a:xfrm>
            <a:off x="1691640" y="59710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Delete()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389120" y="512064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50800" dist="12700" dir="16200000" algn="bl" rotWithShape="0">
              <a:srgbClr val="E8E2D9">
                <a:alpha val="2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572000" y="5212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AccountController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562356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0" y="56235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Register()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623560" y="562356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66" name="Text 64"/>
          <p:cNvSpPr/>
          <p:nvPr/>
        </p:nvSpPr>
        <p:spPr>
          <a:xfrm>
            <a:off x="5623560" y="56235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Login()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675120" y="562356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68" name="Text 66"/>
          <p:cNvSpPr/>
          <p:nvPr/>
        </p:nvSpPr>
        <p:spPr>
          <a:xfrm>
            <a:off x="6675120" y="56235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Logout()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572000" y="5971032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0" y="59710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Profile()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321040" y="512064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50800" dist="12700" dir="16200000" algn="bl" rotWithShape="0">
              <a:srgbClr val="E8E2D9">
                <a:alpha val="2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8503920" y="5212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CategoryController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503920" y="562356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74" name="Text 72"/>
          <p:cNvSpPr/>
          <p:nvPr/>
        </p:nvSpPr>
        <p:spPr>
          <a:xfrm>
            <a:off x="8503920" y="56235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Index()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9555480" y="562356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76" name="Text 74"/>
          <p:cNvSpPr/>
          <p:nvPr/>
        </p:nvSpPr>
        <p:spPr>
          <a:xfrm>
            <a:off x="9555480" y="56235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Create()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0607040" y="562356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78" name="Text 76"/>
          <p:cNvSpPr/>
          <p:nvPr/>
        </p:nvSpPr>
        <p:spPr>
          <a:xfrm>
            <a:off x="10607040" y="56235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Edit()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503920" y="5971032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EDF5FC"/>
          </a:solidFill>
          <a:ln/>
        </p:spPr>
      </p:sp>
      <p:sp>
        <p:nvSpPr>
          <p:cNvPr id="80" name="Text 78"/>
          <p:cNvSpPr/>
          <p:nvPr/>
        </p:nvSpPr>
        <p:spPr>
          <a:xfrm>
            <a:off x="8503920" y="59710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6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Delete()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III — РЕАЛИЗАЦИЯ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View-та — Razor синтаксис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Helpers и HTML Helpers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577840" cy="4846320"/>
          </a:xfrm>
          <a:prstGeom prst="roundRect">
            <a:avLst>
              <a:gd name="adj" fmla="val 1132"/>
            </a:avLst>
          </a:prstGeom>
          <a:solidFill>
            <a:srgbClr val="F5F3F0"/>
          </a:solidFill>
          <a:ln w="9525">
            <a:solidFill>
              <a:srgbClr val="E8E2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577840" cy="32004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Helpers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asp-controller="Product"</a:t>
            </a: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asp-action="Create" method="post"&gt;</a:t>
            </a: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asp-for="Name"&gt;&lt;/label&gt;</a:t>
            </a: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asp-for="Name" /&gt;</a:t>
            </a: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asp-validation-for="Name"&gt;&lt;/span&gt;</a:t>
            </a: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asp-for="PriceTotal"&gt;&lt;/label&gt;</a:t>
            </a: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asp-for="PriceTotal" /&gt;</a:t>
            </a: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type="submit"&gt;Запази&lt;/button&gt;</a:t>
            </a:r>
            <a:endParaRPr lang="en-US" sz="14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400" b="1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577840" cy="4846320"/>
          </a:xfrm>
          <a:prstGeom prst="roundRect">
            <a:avLst>
              <a:gd name="adj" fmla="val 1132"/>
            </a:avLst>
          </a:prstGeom>
          <a:solidFill>
            <a:srgbClr val="F5F3F0"/>
          </a:solidFill>
          <a:ln w="9525">
            <a:solidFill>
              <a:srgbClr val="E8E2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54480"/>
            <a:ext cx="5577840" cy="32004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Helpers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39" y="2011680"/>
            <a:ext cx="5164051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@using(Html.BeginForm("Create","Product",FormMethod.Post)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@Html.AntiForgeryToken()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@Html.LabelFor(m =&gt; m.Name)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@Html.TextBoxFor(m =&gt; </a:t>
            </a:r>
            <a:r>
              <a:rPr lang="en-US" sz="1100" b="1" dirty="0" err="1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m.Name</a:t>
            </a: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{ @class = "form-control" })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@Html.LabelFor(m =&gt; m.Price)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@Html.EditorFor(m =&gt; </a:t>
            </a:r>
            <a:r>
              <a:rPr lang="en-US" sz="1100" b="1" dirty="0" err="1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m.Price</a:t>
            </a: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@Html.ValidationMessageFor(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=&gt; m.Name)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type="submit"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value="Запази" /&gt;</a:t>
            </a:r>
            <a:endParaRPr lang="en-US" sz="11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III — РЕАЛИЗАЦИЯ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Класове за прехвърляне на данни между View и Controller</a:t>
            </a:r>
            <a:endParaRPr lang="en-US" sz="13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7EADF9FC-0A64-0BC0-DF5E-8BEB25F00FDA}"/>
              </a:ext>
            </a:extLst>
          </p:cNvPr>
          <p:cNvSpPr/>
          <p:nvPr/>
        </p:nvSpPr>
        <p:spPr>
          <a:xfrm>
            <a:off x="365760" y="1554480"/>
            <a:ext cx="5577840" cy="4846320"/>
          </a:xfrm>
          <a:prstGeom prst="roundRect">
            <a:avLst>
              <a:gd name="adj" fmla="val 1132"/>
            </a:avLst>
          </a:prstGeom>
          <a:solidFill>
            <a:srgbClr val="F5F3F0"/>
          </a:solidFill>
          <a:ln w="9525">
            <a:solidFill>
              <a:srgbClr val="E8E2D9"/>
            </a:solidFill>
            <a:prstDash val="solid"/>
          </a:ln>
        </p:spPr>
        <p:txBody>
          <a:bodyPr/>
          <a:lstStyle/>
          <a:p>
            <a:r>
              <a:rPr lang="en-US" dirty="0"/>
              <a:t>public class Product</a:t>
            </a:r>
            <a:endParaRPr lang="bg-BG" dirty="0"/>
          </a:p>
          <a:p>
            <a:r>
              <a:rPr lang="en-US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decimal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PriceTotal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Category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Categories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ICollection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bg-BG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148B84D9-755D-7CCE-E1EC-B1243D3507FA}"/>
              </a:ext>
            </a:extLst>
          </p:cNvPr>
          <p:cNvSpPr/>
          <p:nvPr/>
        </p:nvSpPr>
        <p:spPr>
          <a:xfrm>
            <a:off x="365760" y="1554480"/>
            <a:ext cx="5577840" cy="32004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401CF87-B0D8-30AD-78C3-D378AEF7634F}"/>
              </a:ext>
            </a:extLst>
          </p:cNvPr>
          <p:cNvSpPr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bg-BG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.cs</a:t>
            </a:r>
            <a:endParaRPr lang="en-US" sz="11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2ED282BA-CE95-C7FF-084A-B3E38744C395}"/>
              </a:ext>
            </a:extLst>
          </p:cNvPr>
          <p:cNvSpPr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endParaRPr lang="en-US" sz="85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C2BB66F1-7A89-9A34-493A-8115B306D452}"/>
              </a:ext>
            </a:extLst>
          </p:cNvPr>
          <p:cNvSpPr/>
          <p:nvPr/>
        </p:nvSpPr>
        <p:spPr>
          <a:xfrm>
            <a:off x="6065520" y="1554480"/>
            <a:ext cx="5577840" cy="4846320"/>
          </a:xfrm>
          <a:prstGeom prst="roundRect">
            <a:avLst>
              <a:gd name="adj" fmla="val 1132"/>
            </a:avLst>
          </a:prstGeom>
          <a:solidFill>
            <a:srgbClr val="F5F3F0"/>
          </a:solidFill>
          <a:ln w="9525">
            <a:solidFill>
              <a:srgbClr val="E8E2D9"/>
            </a:solidFill>
            <a:prstDash val="solid"/>
          </a:ln>
        </p:spPr>
        <p:txBody>
          <a:bodyPr/>
          <a:lstStyle/>
          <a:p>
            <a:r>
              <a:rPr lang="en-US" dirty="0"/>
              <a:t>public class Product</a:t>
            </a:r>
            <a:endParaRPr lang="bg-BG" dirty="0"/>
          </a:p>
          <a:p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Client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Prodoct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Prodocts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Staus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bg-BG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decimal </a:t>
            </a:r>
            <a:r>
              <a:rPr lang="bg-BG" sz="1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PriceTotal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bg-BG" sz="1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} </a:t>
            </a:r>
          </a:p>
          <a:p>
            <a:r>
              <a:rPr lang="bg-B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bg-BG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68E169E5-396C-9AC0-0297-56AE8B26A879}"/>
              </a:ext>
            </a:extLst>
          </p:cNvPr>
          <p:cNvSpPr/>
          <p:nvPr/>
        </p:nvSpPr>
        <p:spPr>
          <a:xfrm>
            <a:off x="6065520" y="1554480"/>
            <a:ext cx="5577840" cy="320040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E818CC75-70F9-DFD6-F7C8-89D81E9E948D}"/>
              </a:ext>
            </a:extLst>
          </p:cNvPr>
          <p:cNvSpPr/>
          <p:nvPr/>
        </p:nvSpPr>
        <p:spPr>
          <a:xfrm>
            <a:off x="624840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bg-BG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.cs</a:t>
            </a:r>
            <a:endParaRPr lang="en-US" sz="11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38EC8327-E5E9-B081-20F5-EBCAB8E7AEDB}"/>
              </a:ext>
            </a:extLst>
          </p:cNvPr>
          <p:cNvSpPr/>
          <p:nvPr/>
        </p:nvSpPr>
        <p:spPr>
          <a:xfrm>
            <a:off x="6339840" y="201168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A64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IV — ЗАКЛЮЧЕНИЕ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Заключение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57784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76200" dist="25400" dir="16200000" algn="bl" rotWithShape="0">
              <a:srgbClr val="E8E2D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6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Изпълнени цели и функционалност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029200" cy="13716"/>
          </a:xfrm>
          <a:prstGeom prst="rect">
            <a:avLst/>
          </a:prstGeom>
          <a:solidFill>
            <a:srgbClr val="E2D5B8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148840"/>
            <a:ext cx="182880" cy="182880"/>
          </a:xfrm>
          <a:prstGeom prst="ellipse">
            <a:avLst/>
          </a:prstGeom>
          <a:solidFill>
            <a:srgbClr val="EEFAF1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48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Създаден е функционален уеб сайт за фото и копирни услуги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182880" cy="182880"/>
          </a:xfrm>
          <a:prstGeom prst="ellipse">
            <a:avLst/>
          </a:prstGeom>
          <a:solidFill>
            <a:srgbClr val="EEFAF1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974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Реализирани са секции — Начало, Услуги, Фото продукти, Цени, Контакти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182880" cy="182880"/>
          </a:xfrm>
          <a:prstGeom prst="ellipse">
            <a:avLst/>
          </a:prstGeom>
          <a:solidFill>
            <a:srgbClr val="EEFAF1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46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" y="3200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Работи система за регистрация, вход и потребителски профили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EEFAF1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94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Клиентите подават заявки с параметри и прикачване на файлове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343400"/>
            <a:ext cx="182880" cy="182880"/>
          </a:xfrm>
          <a:prstGeom prst="ellipse">
            <a:avLst/>
          </a:prstGeom>
          <a:solidFill>
            <a:srgbClr val="EEFAF1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43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7280" y="4297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 панел с CRUD операции за услуги, продукти и категории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4892040"/>
            <a:ext cx="182880" cy="182880"/>
          </a:xfrm>
          <a:prstGeom prst="ellipse">
            <a:avLst/>
          </a:prstGeom>
          <a:solidFill>
            <a:srgbClr val="EEFAF1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92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" y="48463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и проследяване на статуса на поръчките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5440680"/>
            <a:ext cx="182880" cy="182880"/>
          </a:xfrm>
          <a:prstGeom prst="ellipse">
            <a:avLst/>
          </a:prstGeom>
          <a:solidFill>
            <a:srgbClr val="EEFAF1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4406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97280" y="5394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Адаптивен интерфейс за различни устройства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1371600"/>
            <a:ext cx="557784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8E2D9"/>
            </a:solidFill>
            <a:prstDash val="solid"/>
          </a:ln>
          <a:effectLst>
            <a:outerShdw blurRad="76200" dist="25400" dir="16200000" algn="bl" rotWithShape="0">
              <a:srgbClr val="E8E2D9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6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Трудности и постижения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92240" y="1965960"/>
            <a:ext cx="5029200" cy="13716"/>
          </a:xfrm>
          <a:prstGeom prst="rect">
            <a:avLst/>
          </a:prstGeom>
          <a:solidFill>
            <a:srgbClr val="E2D5B8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1945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време на работата се натъкнах на предизвикателства свързани с правилното моделиране на връзките в базата данни, реализирането на файлово качване чрез форми и осигуряването на адекватен достъп според потребителските роли.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40233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Като основно постижение считам изграждането на пълноценно трислойно MVC приложение с реална практическа стойност, което обединява копирни и фото услуги в една балансирана система с модерен интерфейс.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8A6420"/>
        </a:solidFill>
        <a:ln/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1587</Words>
  <Application>Microsoft Office PowerPoint</Application>
  <PresentationFormat>Widescreen</PresentationFormat>
  <Paragraphs>358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на уеб сайт за фото и копирни услуги</dc:title>
  <dc:subject>Дипломен проект - Хартиен Обектив</dc:subject>
  <dc:creator>Никола Ганев Салчев</dc:creator>
  <cp:lastModifiedBy>Mol Lester</cp:lastModifiedBy>
  <cp:revision>10</cp:revision>
  <dcterms:created xsi:type="dcterms:W3CDTF">2026-04-27T16:46:10Z</dcterms:created>
  <dcterms:modified xsi:type="dcterms:W3CDTF">2026-05-17T21:07:46Z</dcterms:modified>
</cp:coreProperties>
</file>